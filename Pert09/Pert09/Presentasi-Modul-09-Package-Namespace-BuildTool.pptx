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rial"/>
              </a:defRPr>
            </a:pPr>
            <a:r>
              <a:t>Package, Namespace, &amp; Build Tool</a:t>
            </a:r>
          </a:p>
          <a:p>
            <a:pPr>
              <a:spcBef>
                <a:spcPts val="1200"/>
              </a:spcBef>
              <a:defRPr sz="1800">
                <a:solidFill>
                  <a:srgbClr val="38BDF8"/>
                </a:solidFill>
                <a:latin typeface="Arial"/>
              </a:defRPr>
            </a:pPr>
            <a:r>
              <a:t>Restrukturisasi Proyek Flat Menjadi Arsitektur Standar Industri (Java &amp; PHP)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Panduan Sesi 9 — Praktikum Pemrograman Berorientasi Objek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Universitas Pancasila · Durasi 170 Menit · Teknologi: Java 25 LTS, Maven 3.9, PHP 8.2+, Composer 2.x</a:t>
            </a:r>
          </a:p>
          <a:p>
            <a:pPr>
              <a:spcBef>
                <a:spcPts val="800"/>
              </a:spcBef>
              <a:defRPr sz="1200">
                <a:solidFill>
                  <a:srgbClr val="10B981"/>
                </a:solidFill>
                <a:latin typeface="Arial"/>
              </a:defRPr>
            </a:pPr>
            <a:r>
              <a:t>Target Capaian: Mampu menyusun package domain terbalik, autoload PSR-4, serta mengelola dependensi pihak ketiga secara deterministik.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KONTEKS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Kenapa Kita Harus Membongkar Struktur Sesi 1 sampai 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Kondisi Lama: Proyek Folder Datar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Semua berkas kodingan menumpuk di satu folder utama tanpa pemisah kategori.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Di PHP, kita terpaksa mengetik belasan baris 'require_once' secara manual di setiap berkas.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Rentan terjadi tabrakan nama class (name collision). Dua class dengan nama sama tidak bisa hidup berdampingan.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Jika butuh pustaka buatan orang lain, kita harus download file ZIP manual dan menaruhnya sembarangan di folder tugas.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Sulit dikerjakan secara tim karena tidak ada standar tata letak berkas yang baku.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Solusi Sesi 9: Standar Industri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Package (Java) &amp; Namespace (PHP): Mengelompokkan berkas sesuai domain tanggung jawab (model, service, util).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Autoload PSR-4: Cukup satu baris pendaftaran. PHP memuat class secara otomatis saat class tersebut dipanggil.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Build Tools (Maven &amp; Composer): Mengelola siklus kompilasi, pengujian, dan eksekusi program dalam satu perintah seragam.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Central Repository: Pustaka luar diunduh otomatis dari Maven Central / Packagist lewat satu berkas catatan resmi.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✓ Fondasi Framework Modern: Struktur ini persis sama dengan yang dipakai Spring Boot (Sesi 14) dan Laravel (Sesi 13).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18CF8"/>
                </a:solidFill>
                <a:latin typeface="Arial"/>
              </a:defRPr>
            </a:pPr>
            <a:r>
              <a:t>KONSEP INTI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Dua Analogi Sederhana untuk Memahami Materi 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Analogi 1: Lemari Baju Bersekat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Kasur Berantakan (Flat Folder): Semua baju, celana, jaket, dan kaos kaki dicampur aduk. Kalau barangnya cuma tiga masih mudah dicari. Begitu ada 50 barang, Anda kebingungan.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Lemari Bersekat (Package / Namespace): Kita membuat laci khusus baju harian (folder model), laci jaket (folder service), dan laci aksesoris (folder util).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Di Java, nama package adalah letak fisik laci tersebut. Jika Anda melabeli barang 'di laci atas' padahal barangnya di laci bawah, Java menolak program tersebut.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Di PHP, namespace memberi identitas unik. Anda bisa punya class 'Buku' milik perpustakaan tanpa bentrok dengan class 'Buku' milik percetakan eksternal.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Analogi 2: Play Store &amp; App Store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Cara Lama (Manual): Mencari installer di Google, mendownload file ZIP mentah, mengekstraknya, lalu memindahkannya manual ke folder program. Rentan virus dan rusak saat update.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Cara Modern (Maven &amp; Composer): Anda cukup menulis daftar aplikasi yang Anda inginkan di selembar kertas catatan (pom.xml atau composer.json).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Sistem yang Bekerja: Maven atau Composer bertindak sebagai App Store. Mereka menghubungi server pusat, mendownload paket yang pas, dan menyusunnya rapi di laptop Anda.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Kunci Versi (composer.lock): Seperti mencatat nomor seri aplikasi. Jika teman sekelompok mendownload proyek Anda, mereka dijamin mendapat versi yang sama persis.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PERSIAPAN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Langkah Awal: Memeriksa Alat dan Lingkungan Kerja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Jalankan Perintah Pemeriksaan Ini Sebelum Mulai Koding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1. Java &amp; Maven: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  <a:latin typeface="Consolas"/>
              </a:defRPr>
            </a:pPr>
            <a:r>
              <a:t>java -version    # Wajib menampilkan Java 21 atau 25 LTS</a:t>
            </a:r>
            <a:br/>
            <a:r>
              <a:t>mvn -v           # Wajib menampilkan Apache Maven 3.9+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2. PHP &amp; Composer: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  <a:latin typeface="Consolas"/>
              </a:defRPr>
            </a:pPr>
            <a:r>
              <a:t>php -v           # Wajib menampilkan PHP 8.2 atau 8.4+</a:t>
            </a:r>
            <a:br/>
            <a:r>
              <a:t>composer -v      # Wajib menampilkan Composer 2.x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3. Catatan Kritis Ekstensi ZIP di PHP: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  <a:latin typeface="Consolas"/>
              </a:defRPr>
            </a:pPr>
            <a:r>
              <a:t>Buka berkas php.ini (di folder XAMPP / Laragon).</a:t>
            </a:r>
            <a:br/>
            <a:r>
              <a:t>Pastikan baris 'extension=zip' TIDAK diawali titik koma (;).</a:t>
            </a:r>
            <a:br/>
            <a:r>
              <a:t>Jika ekstensi zip mati, Composer akan gagal mengekstrak paket dari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BAGIAN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Struktur Folder Baku Maven dan Konfigurasi pom.xml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Peta Folder Baku (Wajib Dihafal)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sesi-09/java/</a:t>
            </a:r>
            <a:br/>
            <a:r>
              <a:t>├── pom.xml</a:t>
            </a:r>
            <a:br/>
            <a:r>
              <a:t>└── src/main/java/</a:t>
            </a:r>
            <a:br/>
            <a:r>
              <a:t>    └── id/ac/univpancasila/perpustakaan/</a:t>
            </a:r>
            <a:br/>
            <a:r>
              <a:t>        ├── App.java</a:t>
            </a:r>
            <a:br/>
            <a:r>
              <a:t>        ├── model/</a:t>
            </a:r>
            <a:br/>
            <a:r>
              <a:t>        │   ├── Buku.java</a:t>
            </a:r>
            <a:br/>
            <a:r>
              <a:t>        │   ├── Anggota.java</a:t>
            </a:r>
            <a:br/>
            <a:r>
              <a:t>        │   └── Peminjaman.java</a:t>
            </a:r>
            <a:br/>
            <a:r>
              <a:t>        ├── service/</a:t>
            </a:r>
            <a:br/>
            <a:r>
              <a:t>        │   └── PerpustakaanService.java</a:t>
            </a:r>
            <a:br/>
            <a:r>
              <a:t>        └── util/</a:t>
            </a:r>
            <a:br/>
            <a:r>
              <a:t>            └── Format.java</a:t>
            </a:r>
            <a:br/>
            <a:r>
              <a:t>└── target/  (Otomatis terbuat saat compile)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Tiga Elemen Utama pom.xml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1. Koordinat Unik (G-A-V):</a:t>
            </a:r>
            <a:br/>
            <a:r>
              <a:t>• groupId: id.ac.univpancasila.perpustakaan (domain terbalik)</a:t>
            </a:r>
            <a:br/>
            <a:r>
              <a:t>• artifactId: perpustakaan</a:t>
            </a:r>
            <a:br/>
            <a:r>
              <a:t>• version: 1.0.0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2. Target Kompiler Java:</a:t>
            </a:r>
            <a:br/>
            <a:r>
              <a:t>&lt;properties&gt;</a:t>
            </a:r>
            <a:br/>
            <a:r>
              <a:t>  &lt;maven.compiler.release&gt;25&lt;/maven.compiler.release&gt;</a:t>
            </a:r>
            <a:br/>
            <a:r>
              <a:t>&lt;/properties&gt;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3. Dependensi Pihak Ketiga (ascii-table):</a:t>
            </a:r>
            <a:br/>
            <a:r>
              <a:t>&lt;dependency&gt;</a:t>
            </a:r>
            <a:br/>
            <a:r>
              <a:t>  &lt;groupId&gt;com.github.freva&lt;/groupId&gt;</a:t>
            </a:r>
            <a:br/>
            <a:r>
              <a:t>  &lt;artifactId&gt;ascii-table&lt;/artifactId&gt;</a:t>
            </a:r>
            <a:br/>
            <a:r>
              <a:t>  &lt;version&gt;1.8.0&lt;/version&gt;</a:t>
            </a:r>
            <a:br/>
            <a:r>
              <a:t>&lt;/dependency&gt;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Maven otomatis mendownload library tersebut tanpa campur tangan manual kita.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BAGIAN 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Autoload PSR-4 dan Manajemen Paket dengan composer.json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Peta Folder Proyek Composer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sesi-09/php/</a:t>
            </a:r>
            <a:br/>
            <a:r>
              <a:t>├── composer.json    (Daftar dependensi &amp; autoload)</a:t>
            </a:r>
            <a:br/>
            <a:r>
              <a:t>├── composer.lock    (Kunci versi eksak dependensi)</a:t>
            </a:r>
            <a:br/>
            <a:r>
              <a:t>├── main.php         (Titik masuk program utama)</a:t>
            </a:r>
            <a:br/>
            <a:r>
              <a:t>└── src/</a:t>
            </a:r>
            <a:br/>
            <a:r>
              <a:t>    ├── Model/</a:t>
            </a:r>
            <a:br/>
            <a:r>
              <a:t>    │   ├── Buku.php</a:t>
            </a:r>
            <a:br/>
            <a:r>
              <a:t>    │   ├── Bab.php</a:t>
            </a:r>
            <a:br/>
            <a:r>
              <a:t>    │   ├── Anggota.php</a:t>
            </a:r>
            <a:br/>
            <a:r>
              <a:t>    │   └── Peminjaman.php</a:t>
            </a:r>
            <a:br/>
            <a:r>
              <a:t>    ├── Service/</a:t>
            </a:r>
            <a:br/>
            <a:r>
              <a:t>    │   └── PerpustakaanService.php</a:t>
            </a:r>
            <a:br/>
            <a:r>
              <a:t>    └── Util/</a:t>
            </a:r>
            <a:br/>
            <a:r>
              <a:t>        └── Format.php</a:t>
            </a:r>
            <a:br/>
            <a:r>
              <a:t>└── vendor/          (Unduhan Composer, jangan di-push)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Cara Kerja Autoload PSR-4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1. Pemetaan di composer.json:</a:t>
            </a:r>
            <a:br/>
            <a:r>
              <a:t>"autoload": {</a:t>
            </a:r>
            <a:br/>
            <a:r>
              <a:t>    "psr-4": {</a:t>
            </a:r>
            <a:br/>
            <a:r>
              <a:t>        "Perpustakaan\\": "src/"</a:t>
            </a:r>
            <a:br/>
            <a:r>
              <a:t>    }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2. Maksud Baris Tersebut:</a:t>
            </a:r>
            <a:br/>
            <a:r>
              <a:t>Jika kita menulis 'new Perpustakaan\Model\Buku()', Composer otomatis mencari berkas ke jalur 'src/Model/Buku.php'.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3. Bebas require_once:</a:t>
            </a:r>
            <a:br/>
            <a:r>
              <a:t>Di main.php cukup tulis SATU baris saja:</a:t>
            </a:r>
            <a:br/>
            <a:r>
              <a:t>require __DIR__ . '/vendor/autoload.php';</a:t>
            </a:r>
            <a:br/>
            <a:r>
              <a:t>Seluruh require_once manual lainnya dapat dihapus total.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4. Dependensi nesbot/carbon:</a:t>
            </a:r>
            <a:br/>
            <a:r>
              <a:t>Digunakan untuk hitung jatuh tempo peminjaman dan selisih hari keterlambatan.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MENJALANKAN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Perintah Eksekusi dan Tampilan Hasil di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Eksekusi Proyek Java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Langkah di Terminal:</a:t>
            </a:r>
            <a:br/>
            <a:r>
              <a:t>cd done/java</a:t>
            </a:r>
            <a:br/>
            <a:r>
              <a:t>mvn clean compile</a:t>
            </a:r>
            <a:br/>
            <a:r>
              <a:t>mvn exec:java "-Dexec.mainClass=id.ac.univpancasila.perpustakaan.App"</a:t>
            </a:r>
            <a:br/>
            <a:br/>
            <a:r>
              <a:t>Hasil di Layar Terminal:</a:t>
            </a:r>
            <a:br/>
            <a:r>
              <a:t>+-------+---------------------------------+------+------------+</a:t>
            </a:r>
            <a:br/>
            <a:r>
              <a:t>| Kode  | Judul Buku                      | Stok | Jumlah Bab |</a:t>
            </a:r>
            <a:br/>
            <a:r>
              <a:t>+-------+---------------------------------+------+------------+</a:t>
            </a:r>
            <a:br/>
            <a:r>
              <a:t>| B-001 | Pemrograman Berorientasi Objek  |    4 |      3 bab |</a:t>
            </a:r>
            <a:br/>
            <a:r>
              <a:t>| B-002 | Struktur Data &amp; Algoritma       |    2 |      2 bab |</a:t>
            </a:r>
            <a:br/>
            <a:r>
              <a:t>+-------+---------------------------------+------+------------+</a:t>
            </a:r>
            <a:br/>
            <a:br/>
            <a:r>
              <a:t>Tabel dirender rapi menggunakan pustaka eksternal ascii-table.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Eksekusi Proyek PHP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Consolas"/>
              </a:defRPr>
            </a:pPr>
            <a:r>
              <a:t>Langkah di Terminal:</a:t>
            </a:r>
            <a:br/>
            <a:r>
              <a:t>cd done/php</a:t>
            </a:r>
            <a:br/>
            <a:r>
              <a:t>composer install</a:t>
            </a:r>
            <a:br/>
            <a:r>
              <a:t>php main.php</a:t>
            </a:r>
            <a:br/>
            <a:br/>
            <a:r>
              <a:t>Hasil di Layar Terminal:</a:t>
            </a:r>
            <a:br/>
            <a:r>
              <a:t>ID     | Peminjam    | Judul Buku   | Jatuh Tempo | Denda</a:t>
            </a:r>
            <a:br/>
            <a:r>
              <a:t>-------+-------------+--------------+-------------+-------</a:t>
            </a:r>
            <a:br/>
            <a:r>
              <a:t>PJ-001 | Siti Aisyah | PBO Modul 9  | 03 Nov 2026 | Rp5.000</a:t>
            </a:r>
            <a:br/>
            <a:br/>
            <a:r>
              <a:t>Perhitungan Tanggal Otomatis:</a:t>
            </a:r>
            <a:br/>
            <a:r>
              <a:t>• Tanggal pinjam: 20 Oktober 2026</a:t>
            </a:r>
            <a:br/>
            <a:r>
              <a:t>• Jatuh tempo (+14 hari): 03 November 2026 (addDays)</a:t>
            </a:r>
            <a:br/>
            <a:r>
              <a:t>• Keterlambatan: 5 hari (diffInDays)</a:t>
            </a:r>
            <a:br/>
            <a:r>
              <a:t>• Total denda mahasiswa: 5 x Rp1.000 = Rp5.000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EKSPERIMEN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Langkah 6: Sengaja Merusak Kode untuk Memahami Diagnosa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Percobaan 1 (PHP): Rusak Namespace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Aksi:</a:t>
            </a:r>
            <a:br/>
            <a:r>
              <a:t>Ubah 'namespace Perpustakaan\Model;' di Buku.php menjadi 'Perpustakaan\Domain;' tanpa memindahkan berkasnya.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Error Asli di Terminal:</a:t>
            </a:r>
            <a:br/>
            <a:r>
              <a:t>Fatal error: Uncaught Error: Class 'Perpustakaan\Model\Buku' not found in main.php on line 23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Penjelasan Masalah:</a:t>
            </a:r>
            <a:br/>
            <a:r>
              <a:t>Autoloader mencari ke folder Model karena namespace pemanggilnya Model. Begitu dibuka, isi class-nya Domain. PHP bingung dan menolak eksekusi.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Solusi:</a:t>
            </a:r>
            <a:br/>
            <a:r>
              <a:t>Samakan kembali deklarasi namespace dengan nama foldernya, atau pindahkan berkas fisiknya ke folder 'src/Domain/'.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Percobaan 2 (Java): Rusak Package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Aksi:</a:t>
            </a:r>
            <a:br/>
            <a:r>
              <a:t>Ubah baris package di Buku.java menjadi 'id.ac.univpancasila.perpustakaan.domain;' tanpa memindahkan berkasnya.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Error Asli Kompiler Javac:</a:t>
            </a:r>
            <a:br/>
            <a:r>
              <a:t>[ERROR] cannot access Buku.java</a:t>
            </a:r>
            <a:br/>
            <a:r>
              <a:t>bad source file: file does not contain class id.ac.univpancasila.perpustakaan.model.Buku</a:t>
            </a:r>
            <a:br/>
            <a:r>
              <a:t>Please remove or make sure it appears in the correct subdirectory.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Penjelasan Masalah:</a:t>
            </a:r>
            <a:br/>
            <a:r>
              <a:t>Di Java, package bukan saran atau label bebas. Ini aturan mutlak spesifikasi bahasa (JLS). Struktur folder wajib sama persis dengan deklarasi package.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Solusi:</a:t>
            </a:r>
            <a:br/>
            <a:r>
              <a:t>Kembalikan baris package ke 'id.ac.univpancasila.perpustakaan.model;'.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MANAJEMEN REPOSITORI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Aturan Penting Git: Apa yang Boleh dan Dilarang Di-commit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Pahami Alasan di Balik Berkas .gitignore</a:t>
            </a:r>
          </a:p>
          <a:p>
            <a:pPr>
              <a:spcBef>
                <a:spcPts val="1200"/>
              </a:spcBef>
              <a:defRPr sz="1300" b="1">
                <a:solidFill>
                  <a:srgbClr val="F87171"/>
                </a:solidFill>
              </a:defRPr>
            </a:pPr>
            <a:r>
              <a:t>DILARANG DI-COMMIT: target/ (Maven) dan vendor/ (Composer)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Ukuran Sangat Besar: Berisi ribuan berkas unduhan yang membuat ukuran riwayat Git membengkak drastis.</a:t>
            </a:r>
            <a:br/>
            <a:r>
              <a:t>• Mudah Digenerasi Ulang: Siapapun yang meng-clone proyek cukup mengetik 'mvn compile' atau 'composer install' untuk membuat folder ini lagi.</a:t>
            </a:r>
            <a:br/>
            <a:r>
              <a:t>• Masalah Lintas OS: Berkas biner di vendor/ pada Windows bisa menyebabkan error jika dijalankan di server Linux.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WAJIB DI-COMMIT: composer.lock (PHP) dan pom.xml (Java)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Jaminan Konsistensi Versi (Reproducibility): composer.json memakai simbol rentang seperti '^2.0'. Jika tanpa lock file, developer A bisa dapat versi 2.1 dan developer B dapat versi 2.8 yang mungkin mengandung bug baru.</a:t>
            </a:r>
            <a:br/>
            <a:r>
              <a:t>• composer.lock mengunci nomor seri versi dan hash komit persis dari setiap pustaka sehingga seluruh anggota tim menjalankan kode yang identik.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Perintah Penyelamat Jika Terlanjur Ter-push: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git rm -r --cached target vendor</a:t>
            </a:r>
            <a:br/>
            <a:r>
              <a:t>git commit -m 'Hapus artefak build dari git tracking'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18CF8"/>
                </a:solidFill>
                <a:latin typeface="Arial"/>
              </a:defRPr>
            </a:pPr>
            <a:r>
              <a:t>EVALUASI PRAKTIKUM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Kisi-kisi Demo Lisan (Bobot Nilai 25% — Menggugurkan)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r>
              <a:t>Pertanyaan Wajib yang Harus Mampu Dijawab Praktikan di Depan Asisten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Q1: Bagaimana tahu letak folder berkas Java hanya dari membaca baris pertamanya?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Lihat baris 'package id.ac.univpancasila.perpustakaan.model;'. Berkas itu PASTI ada di folder 'id/ac/univpancasila/perpustakaan/model/'.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Q2: Apa yang dikerjakan Composer saat program memanggil new Perpustakaan\Model\Buku()?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Composer memotong prefix 'Perpustakaan\' menjadi 'src/', mencari 'src/Model/Buku.php', lalu otomatis memuatnya ke memori.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Q3: Mengapa folder vendor/ tidak boleh di-commit, tetapi composer.lock harus?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vendor/ bisa didownload ulang kapan saja dan ukurannya besar. composer.lock wajib disimpan agar seluruh tim memakai versi library yang sama persis.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Q4: Apa arti tanda ^2.0 pada composer.json? Apakah versi 3.0 akan ikut terpasang?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Tanda caret (^) mengizinkan pembaruan minor (misal 2.1 atau 2.9), tetapi MENOLAK pembaruan mayor seperti 3.0 karena berisiko memecahkan kode lama.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KESIMPULAN SESI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Checklist Pengumpulan Tugas Sebelum Mahasiswa Pulang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Daftar Periksa Kelengkapan Berkas Tugas Mahasiswa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Folder 'java/' sudah rapi dengan pom.xml dan struktur 'src/main/java/id/ac/univpancasila/perpustakaan/'.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mvn clean compile menghasilkan BUILD SUCCESS dan program jalan lewat mvn exec:java.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Berkas 'dependency-tree.txt' sudah memuat bukti pemasangan pustaka ascii-table.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Folder 'php/' memuat composer.json, composer.lock, dan src/ dengan autoload PSR-4 aktif.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Program php main.php berjalan lancar tanpa satu pun require_once manual.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Pustaka nesbot/carbon aktif digunakan untuk menghitung tanggal jatuh tempo dan denda.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Berkas 'percobaan.md' memuat dua pesan error asli dari hasil percobaan merusak pemetaan.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[ ] Repositori Git bersih: folder target/ dan vendor/ TIDAK muncul saat mengetik 'git status'.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